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1226967"/>
            <a:ext cx="3429000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Hyper-Localization Strategy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571500" y="3015695"/>
            <a:ext cx="342900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4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Dominating the Louisville Market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571500" y="3812921"/>
            <a:ext cx="34290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CLIENT UPDATE MEETING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3950438"/>
            <a:ext cx="34290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JANUARY 2026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571500" y="4216543"/>
            <a:ext cx="1428750" cy="14288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4109386"/>
            <a:ext cx="1071563" cy="14288"/>
          </a:xfrm>
          <a:prstGeom prst="rect">
            <a:avLst/>
          </a:prstGeom>
          <a:solidFill>
            <a:srgbClr val="D4A37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18263"/>
            <a:ext cx="417195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Overcoming the Geographical Challenge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826902"/>
            <a:ext cx="21431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892969" y="1826902"/>
            <a:ext cx="385048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Google Map Pack rankings are heavily influenced by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physical proximity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to the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searcher.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571500" y="2335504"/>
            <a:ext cx="21431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892969" y="2335504"/>
            <a:ext cx="385048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Competitors like Lou Vet have a direct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Louisville address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giving them an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inherent advantage.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2844105"/>
            <a:ext cx="21431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892969" y="2844105"/>
            <a:ext cx="385048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strategy focuses on maximizing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Relevance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Prominence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to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compensate.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71500" y="3352707"/>
            <a:ext cx="21431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892969" y="3352707"/>
            <a:ext cx="385048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Hyper-localization signals to Google that Dogwood is the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choice for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Louisville residents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71500" y="4161346"/>
            <a:ext cx="417195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SOLUTION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571500" y="4352441"/>
            <a:ext cx="41719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Transform Dogwood from a "Prospect vet" into a "Louisville authority" through neighborhood-level SEO optimization.</a:t>
            </a:r>
            <a:endParaRPr lang="en-US" sz="784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283029"/>
            <a:ext cx="800100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Hyper-Localization Framework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687348"/>
            <a:ext cx="80010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three-pronged approach to building local authority</a:t>
            </a:r>
            <a:endParaRPr lang="en-US" sz="834" dirty="0"/>
          </a:p>
        </p:txBody>
      </p:sp>
      <p:sp>
        <p:nvSpPr>
          <p:cNvPr id="5" name="Text 2"/>
          <p:cNvSpPr/>
          <p:nvPr/>
        </p:nvSpPr>
        <p:spPr>
          <a:xfrm>
            <a:off x="857250" y="2227399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857250" y="2677455"/>
            <a:ext cx="22860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Technical SEO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857250" y="3091793"/>
            <a:ext cx="2286000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LocalBusiness Schema implementation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857250" y="3313249"/>
            <a:ext cx="2286000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Hyper-localized URL structures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857250" y="3534705"/>
            <a:ext cx="2286000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Site crawlability optimization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857250" y="3091793"/>
            <a:ext cx="571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857250" y="3313249"/>
            <a:ext cx="571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857250" y="3534705"/>
            <a:ext cx="571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3429000" y="2227399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2436" dirty="0"/>
          </a:p>
        </p:txBody>
      </p:sp>
      <p:sp>
        <p:nvSpPr>
          <p:cNvPr id="14" name="Text 11"/>
          <p:cNvSpPr/>
          <p:nvPr/>
        </p:nvSpPr>
        <p:spPr>
          <a:xfrm>
            <a:off x="3429000" y="2677455"/>
            <a:ext cx="22860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On-Page Content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3429000" y="3091793"/>
            <a:ext cx="2286000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Neighborhood landing pages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3429000" y="3313249"/>
            <a:ext cx="2286000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Localized keyword targeting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3429000" y="3534705"/>
            <a:ext cx="2286000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Landmark integration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3429000" y="3091793"/>
            <a:ext cx="571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3429000" y="3313249"/>
            <a:ext cx="571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3429000" y="3534705"/>
            <a:ext cx="571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6000750" y="2227399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436" dirty="0"/>
          </a:p>
        </p:txBody>
      </p:sp>
      <p:sp>
        <p:nvSpPr>
          <p:cNvPr id="22" name="Text 19"/>
          <p:cNvSpPr/>
          <p:nvPr/>
        </p:nvSpPr>
        <p:spPr>
          <a:xfrm>
            <a:off x="6000750" y="2677455"/>
            <a:ext cx="22860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Local SEO Signals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6000750" y="3091793"/>
            <a:ext cx="2286000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Neighborhood citations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6000750" y="3313249"/>
            <a:ext cx="2286000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Localized social proof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6000750" y="3534705"/>
            <a:ext cx="2286000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strategy</a:t>
            </a:r>
            <a:endParaRPr lang="en-US" sz="727" dirty="0"/>
          </a:p>
        </p:txBody>
      </p:sp>
      <p:sp>
        <p:nvSpPr>
          <p:cNvPr id="26" name="Shape 23"/>
          <p:cNvSpPr/>
          <p:nvPr/>
        </p:nvSpPr>
        <p:spPr>
          <a:xfrm>
            <a:off x="0" y="4041911"/>
            <a:ext cx="9144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0" y="4041911"/>
            <a:ext cx="9144000" cy="14288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28" name="Text 25"/>
          <p:cNvSpPr/>
          <p:nvPr/>
        </p:nvSpPr>
        <p:spPr>
          <a:xfrm>
            <a:off x="6000750" y="3091793"/>
            <a:ext cx="571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6000750" y="3313249"/>
            <a:ext cx="571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6000750" y="3534705"/>
            <a:ext cx="571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571500" y="4263368"/>
            <a:ext cx="80010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framework creates a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"relevance shield"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that protects and grows our ranking in target areas.</a:t>
            </a:r>
            <a:endParaRPr lang="en-US" sz="7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400550" y="662471"/>
            <a:ext cx="417195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St. Matthews: Capturing the 40207 Market</a:t>
            </a:r>
            <a:endParaRPr lang="en-US" sz="1602" dirty="0"/>
          </a:p>
        </p:txBody>
      </p:sp>
      <p:sp>
        <p:nvSpPr>
          <p:cNvPr id="5" name="Text 1"/>
          <p:cNvSpPr/>
          <p:nvPr/>
        </p:nvSpPr>
        <p:spPr>
          <a:xfrm>
            <a:off x="4400550" y="1471110"/>
            <a:ext cx="417195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STRATEGIC TARGETING OF AN AFFLUENT NEIGHBORHOOD</a:t>
            </a:r>
            <a:endParaRPr lang="en-US" sz="683" dirty="0"/>
          </a:p>
        </p:txBody>
      </p:sp>
      <p:sp>
        <p:nvSpPr>
          <p:cNvPr id="6" name="Text 2"/>
          <p:cNvSpPr/>
          <p:nvPr/>
        </p:nvSpPr>
        <p:spPr>
          <a:xfrm>
            <a:off x="4400550" y="1733643"/>
            <a:ext cx="417195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KEYWORDS</a:t>
            </a:r>
            <a:endParaRPr lang="en-US" sz="584" dirty="0"/>
          </a:p>
        </p:txBody>
      </p:sp>
      <p:sp>
        <p:nvSpPr>
          <p:cNvPr id="7" name="Text 3"/>
          <p:cNvSpPr/>
          <p:nvPr/>
        </p:nvSpPr>
        <p:spPr>
          <a:xfrm>
            <a:off x="4400550" y="1892591"/>
            <a:ext cx="417195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High-Intent Search Terms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4400550" y="2116894"/>
            <a:ext cx="41719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"Veterinarian near St. Matthews KY"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"Pet dental care 40207"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capture residents actively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seeking local care.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4400550" y="2615505"/>
            <a:ext cx="417195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LANDMARK INTEGRATION</a:t>
            </a:r>
            <a:endParaRPr lang="en-US" sz="584" dirty="0"/>
          </a:p>
        </p:txBody>
      </p:sp>
      <p:sp>
        <p:nvSpPr>
          <p:cNvPr id="10" name="Text 6"/>
          <p:cNvSpPr/>
          <p:nvPr/>
        </p:nvSpPr>
        <p:spPr>
          <a:xfrm>
            <a:off x="4400550" y="2774454"/>
            <a:ext cx="417195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Local Relevance Signals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4400550" y="2998756"/>
            <a:ext cx="41719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Strategic mentions of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Seneca Park, Shelbyville Road,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Chenoweth Lane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signal local expertise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 search engines.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4400550" y="3497368"/>
            <a:ext cx="417195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POSITIONING STRATEGY</a:t>
            </a:r>
            <a:endParaRPr lang="en-US" sz="584" dirty="0"/>
          </a:p>
        </p:txBody>
      </p:sp>
      <p:sp>
        <p:nvSpPr>
          <p:cNvPr id="13" name="Text 9"/>
          <p:cNvSpPr/>
          <p:nvPr/>
        </p:nvSpPr>
        <p:spPr>
          <a:xfrm>
            <a:off x="4400550" y="3656316"/>
            <a:ext cx="417195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"Short Drive" Advantage</a:t>
            </a:r>
            <a:endParaRPr lang="en-US" sz="885" dirty="0"/>
          </a:p>
        </p:txBody>
      </p:sp>
      <p:sp>
        <p:nvSpPr>
          <p:cNvPr id="14" name="Text 10"/>
          <p:cNvSpPr/>
          <p:nvPr/>
        </p:nvSpPr>
        <p:spPr>
          <a:xfrm>
            <a:off x="4400550" y="3880619"/>
            <a:ext cx="41719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Explicitly addressing the 15-minute commute from St. Matthews to Norton Commons as a worthwhile investment for superior care.</a:t>
            </a:r>
            <a:endParaRPr lang="en-US" sz="727" dirty="0"/>
          </a:p>
        </p:txBody>
      </p:sp>
      <p:sp>
        <p:nvSpPr>
          <p:cNvPr id="15" name="Text 11"/>
          <p:cNvSpPr/>
          <p:nvPr/>
        </p:nvSpPr>
        <p:spPr>
          <a:xfrm>
            <a:off x="4400550" y="4572112"/>
            <a:ext cx="417195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STRATEGIC GOAL</a:t>
            </a:r>
            <a:endParaRPr lang="en-US" sz="584" dirty="0"/>
          </a:p>
        </p:txBody>
      </p:sp>
      <p:sp>
        <p:nvSpPr>
          <p:cNvPr id="16" name="Text 12"/>
          <p:cNvSpPr/>
          <p:nvPr/>
        </p:nvSpPr>
        <p:spPr>
          <a:xfrm>
            <a:off x="4400550" y="4731060"/>
            <a:ext cx="4171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Position Dogwood as the premier alternative to established local clinics for St. Matthews residents seeking advanced veterinary expertise.</a:t>
            </a:r>
            <a:endParaRPr lang="en-US" sz="7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79255"/>
            <a:ext cx="371475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Middletown: Competing for Advanced Care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587894"/>
            <a:ext cx="25003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⚕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928688" y="1587894"/>
            <a:ext cx="3357563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Surgical Expertise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928688" y="1777901"/>
            <a:ext cx="3357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Target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pet surgery Middletown Louisville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with advanced orthopedic and soft-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tissue procedures.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571500" y="2256532"/>
            <a:ext cx="25003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💰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928688" y="2256532"/>
            <a:ext cx="3357563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Transparent Pricing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928688" y="2446539"/>
            <a:ext cx="3357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Position as an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affordable vet Middletown KY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through wellness plans and clear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cost structures.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571500" y="2925170"/>
            <a:ext cx="25003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🔬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928688" y="2925170"/>
            <a:ext cx="3357563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Advanced Diagnostics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928688" y="3115177"/>
            <a:ext cx="3357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Emphasize state-of-the-art technology for accurate, efficient diagnosis and treatment planning.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571500" y="3593809"/>
            <a:ext cx="25003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👶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928688" y="3593809"/>
            <a:ext cx="3357563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New Pet Owner Focus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928688" y="3783816"/>
            <a:ext cx="3357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Capture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puppy vaccinations Middletown KY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market with comprehensive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wellness packages.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571500" y="4455328"/>
            <a:ext cx="371475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GOAL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571500" y="4614276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Capture new pet owners and those seeking specialized care beyond general practice in the 40243 area.</a:t>
            </a:r>
            <a:endParaRPr lang="en-US" sz="734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4572000" cy="2571750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57175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92931"/>
            <a:ext cx="800100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Optimized URL &amp; Content Structure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97251"/>
            <a:ext cx="80010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Sending clear, localized signals to search engine crawlers</a:t>
            </a:r>
            <a:endParaRPr lang="en-US" sz="834" dirty="0"/>
          </a:p>
        </p:txBody>
      </p:sp>
      <p:sp>
        <p:nvSpPr>
          <p:cNvPr id="5" name="Text 2"/>
          <p:cNvSpPr/>
          <p:nvPr/>
        </p:nvSpPr>
        <p:spPr>
          <a:xfrm>
            <a:off x="571500" y="1465864"/>
            <a:ext cx="3786188" cy="31253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URL Structure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1778403"/>
            <a:ext cx="37861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Recommended Pattern:</a:t>
            </a:r>
            <a:endParaRPr lang="en-US" sz="634" dirty="0"/>
          </a:p>
        </p:txBody>
      </p:sp>
      <p:sp>
        <p:nvSpPr>
          <p:cNvPr id="7" name="Shape 4"/>
          <p:cNvSpPr/>
          <p:nvPr/>
        </p:nvSpPr>
        <p:spPr>
          <a:xfrm>
            <a:off x="571500" y="1946281"/>
            <a:ext cx="3786188" cy="6572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946281"/>
            <a:ext cx="21431" cy="657225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9" name="Text 6"/>
          <p:cNvSpPr/>
          <p:nvPr/>
        </p:nvSpPr>
        <p:spPr>
          <a:xfrm>
            <a:off x="678656" y="2053437"/>
            <a:ext cx="3571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BASE URL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678656" y="2255248"/>
            <a:ext cx="329237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4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dogwoodvetclinic.com/veterinary-services-louisville-ky/[service-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678656" y="2383836"/>
            <a:ext cx="30866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4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name]/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571500" y="2603506"/>
            <a:ext cx="37861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Examples: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571500" y="2771384"/>
            <a:ext cx="3786188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/veterinary-services-louisville-ky/pet-dental-care/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571500" y="2967837"/>
            <a:ext cx="3786188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/veterinary-services-louisville-ky/orthopedic-dog-surgery/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571500" y="3164291"/>
            <a:ext cx="3786188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/louisville-ky/veterinarian-st-matthews/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571500" y="2771384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571500" y="2967837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571500" y="3164291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571500" y="3482187"/>
            <a:ext cx="3786188" cy="31253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Header Optimization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571500" y="3794727"/>
            <a:ext cx="3786188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H1 combines service + location (e.g., "Dental Care for Dogs in Louisville, KY")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571500" y="4019755"/>
            <a:ext cx="3786188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H2s use secondary keywords and neighborhood mentions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571500" y="4244783"/>
            <a:ext cx="3786188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Unique H1 on every page for maximum relevance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571500" y="4469811"/>
            <a:ext cx="3786188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Consistent header hierarchy across all pages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571500" y="3794727"/>
            <a:ext cx="8393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571500" y="4019755"/>
            <a:ext cx="8393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571500" y="4244783"/>
            <a:ext cx="8393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571500" y="4469811"/>
            <a:ext cx="8393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4786313" y="1465864"/>
            <a:ext cx="3786188" cy="31253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Meta Descriptions</a:t>
            </a:r>
            <a:endParaRPr lang="en-US" sz="987" dirty="0"/>
          </a:p>
        </p:txBody>
      </p:sp>
      <p:sp>
        <p:nvSpPr>
          <p:cNvPr id="29" name="Text 26"/>
          <p:cNvSpPr/>
          <p:nvPr/>
        </p:nvSpPr>
        <p:spPr>
          <a:xfrm>
            <a:off x="4786313" y="1778403"/>
            <a:ext cx="37861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Format: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4786313" y="1946281"/>
            <a:ext cx="3786188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Include clinic name, location, primary service, and call-to-action within 160 characters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4786313" y="1946281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4786313" y="2085584"/>
            <a:ext cx="37861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Example:</a:t>
            </a:r>
            <a:endParaRPr lang="en-US" sz="634" dirty="0"/>
          </a:p>
        </p:txBody>
      </p:sp>
      <p:sp>
        <p:nvSpPr>
          <p:cNvPr id="33" name="Shape 30"/>
          <p:cNvSpPr/>
          <p:nvPr/>
        </p:nvSpPr>
        <p:spPr>
          <a:xfrm>
            <a:off x="4786313" y="2253462"/>
            <a:ext cx="3786188" cy="60007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4" name="Shape 31"/>
          <p:cNvSpPr/>
          <p:nvPr/>
        </p:nvSpPr>
        <p:spPr>
          <a:xfrm>
            <a:off x="4786313" y="2253462"/>
            <a:ext cx="21431" cy="600075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35" name="Text 32"/>
          <p:cNvSpPr/>
          <p:nvPr/>
        </p:nvSpPr>
        <p:spPr>
          <a:xfrm>
            <a:off x="4786313" y="2253462"/>
            <a:ext cx="3786188" cy="6000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4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"Looking for pet dental care in Louisville, KY? Dogwood Vet Clinic offers expert cleanings and oral surgery. Book your appointment today!"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4786313" y="3032131"/>
            <a:ext cx="3786188" cy="31253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Schema Markup (JSON-LD)</a:t>
            </a:r>
            <a:endParaRPr lang="en-US" sz="987" dirty="0"/>
          </a:p>
        </p:txBody>
      </p:sp>
      <p:sp>
        <p:nvSpPr>
          <p:cNvPr id="37" name="Text 34"/>
          <p:cNvSpPr/>
          <p:nvPr/>
        </p:nvSpPr>
        <p:spPr>
          <a:xfrm>
            <a:off x="4786313" y="3344670"/>
            <a:ext cx="3786188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LocalBusiness Schema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on homepage and contact page</a:t>
            </a:r>
            <a:endParaRPr lang="en-US" sz="634" dirty="0"/>
          </a:p>
        </p:txBody>
      </p:sp>
      <p:sp>
        <p:nvSpPr>
          <p:cNvPr id="38" name="Text 35"/>
          <p:cNvSpPr/>
          <p:nvPr/>
        </p:nvSpPr>
        <p:spPr>
          <a:xfrm>
            <a:off x="4786313" y="3569698"/>
            <a:ext cx="3786188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Explicit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areaServed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property listing Louisville neighborhoods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4786313" y="3794727"/>
            <a:ext cx="3786188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Service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schema for each service page</a:t>
            </a:r>
            <a:endParaRPr lang="en-US" sz="634" dirty="0"/>
          </a:p>
        </p:txBody>
      </p:sp>
      <p:sp>
        <p:nvSpPr>
          <p:cNvPr id="40" name="Text 37"/>
          <p:cNvSpPr/>
          <p:nvPr/>
        </p:nvSpPr>
        <p:spPr>
          <a:xfrm>
            <a:off x="4786313" y="4019755"/>
            <a:ext cx="3786188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Structured data helps Google understand service area and expertise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4786313" y="3344670"/>
            <a:ext cx="8393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683" dirty="0"/>
          </a:p>
        </p:txBody>
      </p:sp>
      <p:sp>
        <p:nvSpPr>
          <p:cNvPr id="42" name="Text 39"/>
          <p:cNvSpPr/>
          <p:nvPr/>
        </p:nvSpPr>
        <p:spPr>
          <a:xfrm>
            <a:off x="4786313" y="3569698"/>
            <a:ext cx="8393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683" dirty="0"/>
          </a:p>
        </p:txBody>
      </p:sp>
      <p:sp>
        <p:nvSpPr>
          <p:cNvPr id="43" name="Text 40"/>
          <p:cNvSpPr/>
          <p:nvPr/>
        </p:nvSpPr>
        <p:spPr>
          <a:xfrm>
            <a:off x="4786313" y="3794727"/>
            <a:ext cx="8393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683" dirty="0"/>
          </a:p>
        </p:txBody>
      </p:sp>
      <p:sp>
        <p:nvSpPr>
          <p:cNvPr id="44" name="Text 41"/>
          <p:cNvSpPr/>
          <p:nvPr/>
        </p:nvSpPr>
        <p:spPr>
          <a:xfrm>
            <a:off x="4786313" y="4019755"/>
            <a:ext cx="8393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6424"/>
            <a:ext cx="41719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Implementation &amp; Next Steps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187900"/>
            <a:ext cx="285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964406" y="1187900"/>
            <a:ext cx="2846784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PHASE 1: LAUNCH LANDING PAGES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964406" y="1343276"/>
            <a:ext cx="28467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Deploy St. Matthews and Middletown pages with full SEO optimization</a:t>
            </a:r>
            <a:endParaRPr lang="en-US" sz="674" dirty="0"/>
          </a:p>
        </p:txBody>
      </p:sp>
      <p:sp>
        <p:nvSpPr>
          <p:cNvPr id="7" name="Text 4"/>
          <p:cNvSpPr/>
          <p:nvPr/>
        </p:nvSpPr>
        <p:spPr>
          <a:xfrm>
            <a:off x="964406" y="1554017"/>
            <a:ext cx="2846784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 LocalBusiness Schema</a:t>
            </a:r>
            <a:endParaRPr lang="en-US" sz="621" dirty="0"/>
          </a:p>
        </p:txBody>
      </p:sp>
      <p:sp>
        <p:nvSpPr>
          <p:cNvPr id="8" name="Text 5"/>
          <p:cNvSpPr/>
          <p:nvPr/>
        </p:nvSpPr>
        <p:spPr>
          <a:xfrm>
            <a:off x="964406" y="1702584"/>
            <a:ext cx="2846784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Optimize meta tags and headers</a:t>
            </a:r>
            <a:endParaRPr lang="en-US" sz="621" dirty="0"/>
          </a:p>
        </p:txBody>
      </p:sp>
      <p:sp>
        <p:nvSpPr>
          <p:cNvPr id="9" name="Text 6"/>
          <p:cNvSpPr/>
          <p:nvPr/>
        </p:nvSpPr>
        <p:spPr>
          <a:xfrm>
            <a:off x="964406" y="1554017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964406" y="1702584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584" dirty="0"/>
          </a:p>
        </p:txBody>
      </p:sp>
      <p:sp>
        <p:nvSpPr>
          <p:cNvPr id="11" name="Text 8"/>
          <p:cNvSpPr/>
          <p:nvPr/>
        </p:nvSpPr>
        <p:spPr>
          <a:xfrm>
            <a:off x="571500" y="2036890"/>
            <a:ext cx="285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964406" y="2036890"/>
            <a:ext cx="2091333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PHASE 2: TECHNICAL INTEGRATION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964406" y="2192266"/>
            <a:ext cx="209133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 301 redirects and update internal linking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964406" y="2403007"/>
            <a:ext cx="2091333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Set up proper redirects from old URLs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964406" y="2551574"/>
            <a:ext cx="2091333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Update homepage and blog internal links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964406" y="2403007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964406" y="2551574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571500" y="2885880"/>
            <a:ext cx="285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964406" y="2885880"/>
            <a:ext cx="2027039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PHASE 3: CITATION BUILDING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964406" y="3041256"/>
            <a:ext cx="202703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Aggressively build neighborhood-specific citations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964406" y="3251997"/>
            <a:ext cx="2027039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Submit to top 50-100 local directories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964406" y="3400565"/>
            <a:ext cx="2027039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Focus on Louisville business associations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964406" y="3251997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964406" y="3400565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571500" y="3734870"/>
            <a:ext cx="285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964406" y="3734870"/>
            <a:ext cx="221992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PHASE 4: MONITOR &amp; EXPAND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964406" y="3890246"/>
            <a:ext cx="2219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Track rankings and expand to additional neighborhoods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964406" y="4100987"/>
            <a:ext cx="2219920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Monitor ranking improvements in GSC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964406" y="4249555"/>
            <a:ext cx="2219920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Expand to Lyndon, Crestwood, and beyond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964406" y="4100987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964406" y="4249555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571500" y="4741022"/>
            <a:ext cx="417195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NEXT STEP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571500" y="4899971"/>
            <a:ext cx="41719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Finalize content implementation and begin Phase 1 rollout</a:t>
            </a:r>
            <a:endParaRPr lang="en-US" sz="683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68592"/>
            <a:ext cx="41719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Building a Local SEO Powerhouse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480068"/>
            <a:ext cx="1785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✓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857250" y="1480068"/>
            <a:ext cx="38862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By focusing on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neighborhood-level relevance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we bypass the proximity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disadvantage.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571500" y="1988669"/>
            <a:ext cx="1785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✓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857250" y="1988669"/>
            <a:ext cx="38862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strategy builds a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sustainable competitive advantage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that is difficult for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competitors to replicate.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2497271"/>
            <a:ext cx="1785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✓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857250" y="2497271"/>
            <a:ext cx="38862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are transforming Dogwood Vet Clinic from a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"Prospect vet"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into a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"Louisville authority."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71500" y="3005872"/>
            <a:ext cx="1785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4A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✓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857250" y="3005872"/>
            <a:ext cx="38862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result: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 3 Google Map Pack rankings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across multiple high-value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2C2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neighborhoods.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71500" y="4100261"/>
            <a:ext cx="417195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D4A3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NEXT STEP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571500" y="4287785"/>
            <a:ext cx="41719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3A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Finalize content implementation and begin Phase 1 rollout.</a:t>
            </a:r>
            <a:endParaRPr lang="en-US" sz="1193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2026-02-27T13:09:10Z</dcterms:created>
  <dcterms:modified xsi:type="dcterms:W3CDTF">2026-02-27T13:09:10Z</dcterms:modified>
</cp:coreProperties>
</file>